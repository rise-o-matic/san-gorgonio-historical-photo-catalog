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Ceremonial Big House opens the timeline before the town existed — the Pass as Native homeland, the story's necessary first word.</a:t>
            </a:r>
          </a:p>
          <a:p/>
          <a:p>
            <a:r>
              <a:t>Sourcing status: TO RE-ACQUIRE — no printable version exists. Track B · Malki Museum + Morongo Tribe consult. Source lead: Malki Museum / Morongo Band (cultural consent required).</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Pauline Weaver, frontier scout and namesake presence in the Pass — the human bridge between the Native era and Anglo settlement.</a:t>
            </a:r>
          </a:p>
          <a:p/>
          <a:p>
            <a:r>
              <a:t>Sourcing status: TO RE-ACQUIRE — no printable version exists. Track A · online (Calisphere / OAC). Source lead: Calisphere / published portrait.</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A stagecoach on the dirt main street — Beaumont as a stop on the road west, before the railroad changed everything.</a:t>
            </a:r>
          </a:p>
          <a:p/>
          <a:p>
            <a:r>
              <a:t>Sourcing status: TO RE-ACQUIRE — no printable version exists. Track A · online (Calisphere / OAC). Source lead: Calisphere coll. 1828 / SGPHS.</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1875 depot is the hinge of the whole story: the moment the railroad arrived and the townsite was born. Non-negotiable on the wall.</a:t>
            </a:r>
          </a:p>
          <a:p/>
          <a:p>
            <a:r>
              <a:t>Sourcing status: TO RE-ACQUIRE — no printable version exists. Track A · online (Calisphere / OAC). Source lead: Calisphere coll. 1828 (has CBAN/ARK — quick win).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earliest Post Office view — the founding-era civic seed that the c.1910 stand-in later grew from.</a:t>
            </a:r>
          </a:p>
          <a:p/>
          <a:p>
            <a:r>
              <a:t>Sourcing status: TO RE-ACQUIRE — no printable version exists. Track A · online (Calisphere / OAC). Source lead: Beaumont Library District.</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A traditional house on the Morongo Reservation, c.1900 — Native life continuing alongside the new town, not erased by it.</a:t>
            </a:r>
          </a:p>
          <a:p/>
          <a:p>
            <a:r>
              <a:t>Sourcing status: TO RE-ACQUIRE — no printable version exists. Track B · Malki Museum + Morongo Tribe consult. Source lead: Malki Museum / NAA (cultural consent required).</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Ranch women in the saddle — the Stewart daughters put Beaumont's pioneer founding families on the wall, and a rare frame of frontier women who ran the land.</a:t>
            </a:r>
          </a:p>
          <a:p/>
          <a:p>
            <a:r>
              <a:t>Production status: ready to print — 24.2" long edge at 150 PPI (3024×4032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Morongo Band of Mission Indians, 1908 — a portrait of the Pass's original community as a living people, central to an honest timeline.</a:t>
            </a:r>
          </a:p>
          <a:p/>
          <a:p>
            <a:r>
              <a:t>Sourcing status: TO RE-ACQUIRE — no printable version exists. Track B · Malki Museum + Morongo Tribe consult. Source lead: Malki Museum / USC / NAA (cultural consent required).</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Post Office at Fifth &amp; Egan anchors the young town's civic core — the corner that was, for decades, the center of Beaumont's public life.</a:t>
            </a:r>
          </a:p>
          <a:p/>
          <a:p>
            <a:r>
              <a:t>Production status: ready to print — 24.2" long edge at 150 PPI (4032×3024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Railroad crew with Luis Estrada — the Southern Pacific line built Beaumont, and this frame credits the Latino labor that laid and kept the track.</a:t>
            </a:r>
          </a:p>
          <a:p/>
          <a:p>
            <a:r>
              <a:t>Production status: ready to print — 35.7" long edge at 150 PPI (5954×4085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WCTU fountain is Beaumont's monument to the temperance movement — proof that national social currents ran straight through a small Pass town.</a:t>
            </a:r>
          </a:p>
          <a:p/>
          <a:p>
            <a:r>
              <a:t>Production status: ready to print — 41.6" long edge at 150 PPI (6926×4236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Wellwood School — the arrival of formal education marks the town's shift from settlement to community raising its own.</a:t>
            </a:r>
          </a:p>
          <a:p/>
          <a:p>
            <a:r>
              <a:t>Production status: ready to print — 24.2" long edge at 150 PPI (4032×3024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Cherry Festival Queen crowns Beaumont's identity as cherry country — the orchards were both the economy and the civic celebration.</a:t>
            </a:r>
          </a:p>
          <a:p/>
          <a:p>
            <a:r>
              <a:t>Production status: ready to print — 24.2" long edge at 150 PPI (4032×2661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Inside the S&amp;S Store on Fifth Street — Main Street commerce, the daily downtown that a wall of civic buildings alone would miss.</a:t>
            </a:r>
          </a:p>
          <a:p/>
          <a:p>
            <a:r>
              <a:t>Production status: ready to print — 24.8" long edge at 150 PPI (4133×2965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Estrada family beside their Southern Pacific home — the railroad story carried forward a generation, from labor to a rooted Beaumont family.</a:t>
            </a:r>
          </a:p>
          <a:p/>
          <a:p>
            <a:r>
              <a:t>Production status: ready to print — 36.4" long edge at 150 PPI (6068×4770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Beaumont High School — education come of age, the institution that a whole mid-century generation of residents passed through.</a:t>
            </a:r>
          </a:p>
          <a:p/>
          <a:p>
            <a:r>
              <a:t>Production status: ready to print — 24.2" long edge at 150 PPI (4032×3024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First Christian Church on Egan — the mainline civic congregation, paired with Sacred Heart to show a town of two communities worshiping side by side.</a:t>
            </a:r>
          </a:p>
          <a:p/>
          <a:p>
            <a:r>
              <a:t>Production status: ready to print — 24.0" long edge at 150 PPI (3152×3997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Dowling orchard and packing store at the industry's peak — dried fruit and fresh produce that shipped the Pass's name outward.</a:t>
            </a:r>
          </a:p>
          <a:p/>
          <a:p>
            <a:r>
              <a:t>Production status: ready to print — 24.2" long edge at 150 PPI (4032×3024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Sacred Heart barrio church — the faith and gathering place of Beaumont's Mexican-American community, and one of the few large-format survivors.</a:t>
            </a:r>
          </a:p>
          <a:p/>
          <a:p>
            <a:r>
              <a:t>Production status: ready to print — 49.5" long edge at 150 PPI (8258×5670 px). Taste-matched stand-in for Kelly's curated vision.</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The 1960s mansard-roof expansion — postwar Beaumont modernizing, the town outgrowing its founding footprint.</a:t>
            </a:r>
          </a:p>
          <a:p/>
          <a:p>
            <a:r>
              <a:t>Sourcing status: TO RE-ACQUIRE — no printable version exists. Track C · Library storage / newspaper morgue. Source lead: Library storage / Record Gazette.</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IMAGE IS ON THE WALL</a:t>
            </a:r>
          </a:p>
          <a:p>
            <a:r>
              <a:t>Late-century development — the timeline's near end, Beaumont becoming the commuter town it is today.</a:t>
            </a:r>
          </a:p>
          <a:p/>
          <a:p>
            <a:r>
              <a:t>Sourcing status: TO RE-ACQUIRE — no printable version exists. Track C · Library storage / newspaper morgue. Source lead: Library storage / Record Gazette.</a:t>
            </a:r>
          </a:p>
          <a:p/>
          <a:p>
            <a:r>
              <a:t>(Caption is draft visitor-facing text; confirm facts and rights before public use.)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05840"/>
            <a:ext cx="10515600" cy="457200"/>
          </a:xfrm>
          <a:prstGeom prst="rect">
            <a:avLst/>
          </a:prstGeom>
          <a:noFill/>
        </p:spPr>
        <p:txBody>
          <a:bodyPr wrap="square" anchor="t" lIns="0" rIns="0" tIns="0" bIns="0">
            <a:spAutoFit/>
          </a:bodyPr>
          <a:lstStyle/>
          <a:p>
            <a:pPr algn="l"/>
            <a:r>
              <a:rPr sz="1400" b="1" i="0">
                <a:solidFill>
                  <a:srgbClr val="D3A54D"/>
                </a:solidFill>
                <a:latin typeface="Calibri"/>
              </a:rPr>
              <a:t>TIMELINE MURAL · WORKING PROOF</a:t>
            </a:r>
          </a:p>
        </p:txBody>
      </p:sp>
      <p:sp>
        <p:nvSpPr>
          <p:cNvPr id="5" name="TextBox 4"/>
          <p:cNvSpPr txBox="1"/>
          <p:nvPr/>
        </p:nvSpPr>
        <p:spPr>
          <a:xfrm>
            <a:off x="777240" y="1463040"/>
            <a:ext cx="10607040" cy="1463040"/>
          </a:xfrm>
          <a:prstGeom prst="rect">
            <a:avLst/>
          </a:prstGeom>
          <a:noFill/>
        </p:spPr>
        <p:txBody>
          <a:bodyPr wrap="square" anchor="t" lIns="0" rIns="0" tIns="0" bIns="0">
            <a:spAutoFit/>
          </a:bodyPr>
          <a:lstStyle/>
          <a:p>
            <a:pPr algn="l"/>
            <a:r>
              <a:rPr sz="5400" b="0" i="0">
                <a:solidFill>
                  <a:srgbClr val="FFFFFF"/>
                </a:solidFill>
                <a:latin typeface="Georgia"/>
              </a:rPr>
              <a:t>Beaumont, in one long wall</a:t>
            </a:r>
          </a:p>
        </p:txBody>
      </p:sp>
      <p:sp>
        <p:nvSpPr>
          <p:cNvPr id="6" name="TextBox 5"/>
          <p:cNvSpPr txBox="1"/>
          <p:nvPr/>
        </p:nvSpPr>
        <p:spPr>
          <a:xfrm>
            <a:off x="822960" y="2926080"/>
            <a:ext cx="8961120" cy="1280160"/>
          </a:xfrm>
          <a:prstGeom prst="rect">
            <a:avLst/>
          </a:prstGeom>
          <a:noFill/>
        </p:spPr>
        <p:txBody>
          <a:bodyPr wrap="square" anchor="t" lIns="0" rIns="0" tIns="0" bIns="0">
            <a:spAutoFit/>
          </a:bodyPr>
          <a:lstStyle/>
          <a:p>
            <a:pPr algn="l"/>
            <a:r>
              <a:rPr sz="1900" b="0" i="1">
                <a:solidFill>
                  <a:srgbClr val="DCE4DE"/>
                </a:solidFill>
                <a:latin typeface="Georgia"/>
              </a:rPr>
              <a:t>The mural we can print today — production-grade stand-ins for Kelly's vision — laid end to end with the images still to be sourced shown in place, so the whole story arc is visible and the gaps are honest.</a:t>
            </a:r>
          </a:p>
        </p:txBody>
      </p:sp>
      <p:sp>
        <p:nvSpPr>
          <p:cNvPr id="7" name="TextBox 6"/>
          <p:cNvSpPr txBox="1"/>
          <p:nvPr/>
        </p:nvSpPr>
        <p:spPr>
          <a:xfrm>
            <a:off x="822960" y="4572000"/>
            <a:ext cx="3291840" cy="1097280"/>
          </a:xfrm>
          <a:prstGeom prst="rect">
            <a:avLst/>
          </a:prstGeom>
          <a:noFill/>
        </p:spPr>
        <p:txBody>
          <a:bodyPr wrap="square" anchor="t" lIns="0" rIns="0" tIns="0" bIns="0">
            <a:spAutoFit/>
          </a:bodyPr>
          <a:lstStyle/>
          <a:p>
            <a:pPr algn="l"/>
            <a:r>
              <a:rPr sz="4000" b="0" i="0">
                <a:solidFill>
                  <a:srgbClr val="D3A54D"/>
                </a:solidFill>
                <a:latin typeface="Georgia"/>
              </a:rPr>
              <a:t>12</a:t>
            </a:r>
          </a:p>
          <a:p>
            <a:pPr algn="l"/>
            <a:r>
              <a:rPr sz="1300" b="0" i="0">
                <a:solidFill>
                  <a:srgbClr val="B9C6BF"/>
                </a:solidFill>
                <a:latin typeface="Calibri"/>
              </a:rPr>
              <a:t>ready to print now</a:t>
            </a:r>
          </a:p>
        </p:txBody>
      </p:sp>
      <p:sp>
        <p:nvSpPr>
          <p:cNvPr id="8" name="TextBox 7"/>
          <p:cNvSpPr txBox="1"/>
          <p:nvPr/>
        </p:nvSpPr>
        <p:spPr>
          <a:xfrm>
            <a:off x="4206240" y="4572000"/>
            <a:ext cx="3291840" cy="1097280"/>
          </a:xfrm>
          <a:prstGeom prst="rect">
            <a:avLst/>
          </a:prstGeom>
          <a:noFill/>
        </p:spPr>
        <p:txBody>
          <a:bodyPr wrap="square" anchor="t" lIns="0" rIns="0" tIns="0" bIns="0">
            <a:spAutoFit/>
          </a:bodyPr>
          <a:lstStyle/>
          <a:p>
            <a:pPr algn="l"/>
            <a:r>
              <a:rPr sz="4000" b="0" i="0">
                <a:solidFill>
                  <a:srgbClr val="D3A54D"/>
                </a:solidFill>
                <a:latin typeface="Georgia"/>
              </a:rPr>
              <a:t>9</a:t>
            </a:r>
          </a:p>
          <a:p>
            <a:pPr algn="l"/>
            <a:r>
              <a:rPr sz="1300" b="0" i="0">
                <a:solidFill>
                  <a:srgbClr val="B9C6BF"/>
                </a:solidFill>
                <a:latin typeface="Calibri"/>
              </a:rPr>
              <a:t>to re-acquire from source</a:t>
            </a:r>
          </a:p>
        </p:txBody>
      </p:sp>
      <p:sp>
        <p:nvSpPr>
          <p:cNvPr id="9" name="TextBox 8"/>
          <p:cNvSpPr txBox="1"/>
          <p:nvPr/>
        </p:nvSpPr>
        <p:spPr>
          <a:xfrm>
            <a:off x="7589520" y="4572000"/>
            <a:ext cx="3291840" cy="1097280"/>
          </a:xfrm>
          <a:prstGeom prst="rect">
            <a:avLst/>
          </a:prstGeom>
          <a:noFill/>
        </p:spPr>
        <p:txBody>
          <a:bodyPr wrap="square" anchor="t" lIns="0" rIns="0" tIns="0" bIns="0">
            <a:spAutoFit/>
          </a:bodyPr>
          <a:lstStyle/>
          <a:p>
            <a:pPr algn="l"/>
            <a:r>
              <a:rPr sz="4000" b="0" i="0">
                <a:solidFill>
                  <a:srgbClr val="D3A54D"/>
                </a:solidFill>
                <a:latin typeface="Georgia"/>
              </a:rPr>
              <a:t>1800–1988</a:t>
            </a:r>
          </a:p>
          <a:p>
            <a:pPr algn="l"/>
            <a:r>
              <a:rPr sz="1300" b="0" i="0">
                <a:solidFill>
                  <a:srgbClr val="B9C6BF"/>
                </a:solidFill>
                <a:latin typeface="Calibri"/>
              </a:rPr>
              <a:t>years spanned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31520"/>
            <a:ext cx="10515600" cy="822960"/>
          </a:xfrm>
          <a:prstGeom prst="rect">
            <a:avLst/>
          </a:prstGeom>
          <a:noFill/>
        </p:spPr>
        <p:txBody>
          <a:bodyPr wrap="square" anchor="t" lIns="0" rIns="0" tIns="0" bIns="0">
            <a:spAutoFit/>
          </a:bodyPr>
          <a:lstStyle/>
          <a:p>
            <a:pPr algn="l"/>
            <a:r>
              <a:rPr sz="3400" b="0" i="0">
                <a:solidFill>
                  <a:srgbClr val="1E2823"/>
                </a:solidFill>
                <a:latin typeface="Georgia"/>
              </a:rPr>
              <a:t>How to read this deck</a:t>
            </a:r>
          </a:p>
        </p:txBody>
      </p:sp>
      <p:sp>
        <p:nvSpPr>
          <p:cNvPr id="5" name="Rectangle 4"/>
          <p:cNvSpPr/>
          <p:nvPr/>
        </p:nvSpPr>
        <p:spPr>
          <a:xfrm>
            <a:off x="822960" y="1965960"/>
            <a:ext cx="118872" cy="118872"/>
          </a:xfrm>
          <a:prstGeom prst="rect">
            <a:avLst/>
          </a:prstGeom>
          <a:solidFill>
            <a:srgbClr val="1E2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920240"/>
            <a:ext cx="9966960" cy="914400"/>
          </a:xfrm>
          <a:prstGeom prst="rect">
            <a:avLst/>
          </a:prstGeom>
          <a:noFill/>
        </p:spPr>
        <p:txBody>
          <a:bodyPr wrap="square" anchor="t" lIns="0" rIns="0" tIns="0" bIns="0">
            <a:spAutoFit/>
          </a:bodyPr>
          <a:lstStyle/>
          <a:p>
            <a:pPr algn="l"/>
            <a:r>
              <a:rPr sz="1500" b="0" i="0">
                <a:solidFill>
                  <a:srgbClr val="1E2823"/>
                </a:solidFill>
                <a:latin typeface="Calibri"/>
              </a:rPr>
              <a:t>Each slide is one frame of the mural, in chronological order — walk them front to back and you walk Beaumont from before the town to today.</a:t>
            </a:r>
          </a:p>
        </p:txBody>
      </p:sp>
      <p:sp>
        <p:nvSpPr>
          <p:cNvPr id="7" name="Rectangle 6"/>
          <p:cNvSpPr/>
          <p:nvPr/>
        </p:nvSpPr>
        <p:spPr>
          <a:xfrm>
            <a:off x="822960" y="2926080"/>
            <a:ext cx="118872" cy="118872"/>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880360"/>
            <a:ext cx="9966960" cy="914400"/>
          </a:xfrm>
          <a:prstGeom prst="rect">
            <a:avLst/>
          </a:prstGeom>
          <a:noFill/>
        </p:spPr>
        <p:txBody>
          <a:bodyPr wrap="square" anchor="t" lIns="0" rIns="0" tIns="0" bIns="0">
            <a:spAutoFit/>
          </a:bodyPr>
          <a:lstStyle/>
          <a:p>
            <a:pPr algn="l"/>
            <a:r>
              <a:rPr sz="1500" b="0" i="0">
                <a:solidFill>
                  <a:srgbClr val="1E2823"/>
                </a:solidFill>
                <a:latin typeface="Calibri"/>
              </a:rPr>
              <a:t>READY frames are production-grade images we can print now, chosen to match Kelly's curated set. They appear in full colour with their print size.</a:t>
            </a:r>
          </a:p>
        </p:txBody>
      </p:sp>
      <p:sp>
        <p:nvSpPr>
          <p:cNvPr id="9" name="Rectangle 8"/>
          <p:cNvSpPr/>
          <p:nvPr/>
        </p:nvSpPr>
        <p:spPr>
          <a:xfrm>
            <a:off x="822960" y="3886200"/>
            <a:ext cx="118872" cy="118872"/>
          </a:xfrm>
          <a:prstGeom prst="rect">
            <a:avLst/>
          </a:prstGeom>
          <a:solidFill>
            <a:srgbClr val="A64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840480"/>
            <a:ext cx="9966960" cy="914400"/>
          </a:xfrm>
          <a:prstGeom prst="rect">
            <a:avLst/>
          </a:prstGeom>
          <a:noFill/>
        </p:spPr>
        <p:txBody>
          <a:bodyPr wrap="square" anchor="t" lIns="0" rIns="0" tIns="0" bIns="0">
            <a:spAutoFit/>
          </a:bodyPr>
          <a:lstStyle/>
          <a:p>
            <a:pPr algn="l"/>
            <a:r>
              <a:rPr sz="1500" b="0" i="0">
                <a:solidFill>
                  <a:srgbClr val="1E2823"/>
                </a:solidFill>
                <a:latin typeface="Calibri"/>
              </a:rPr>
              <a:t>TO SOURCE frames are Kelly's picks that survive only as low-resolution scans. They appear in grayscale, flagged with where to re-acquire a better original: Track A online, Track B Malki Museum + Morongo Tribe, Track C Library storage.</a:t>
            </a:r>
          </a:p>
        </p:txBody>
      </p:sp>
      <p:sp>
        <p:nvSpPr>
          <p:cNvPr id="11" name="Rectangle 10"/>
          <p:cNvSpPr/>
          <p:nvPr/>
        </p:nvSpPr>
        <p:spPr>
          <a:xfrm>
            <a:off x="822960" y="4846320"/>
            <a:ext cx="118872" cy="118872"/>
          </a:xfrm>
          <a:prstGeom prst="rect">
            <a:avLst/>
          </a:prstGeom>
          <a:solidFill>
            <a:srgbClr val="68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800600"/>
            <a:ext cx="9966960" cy="914400"/>
          </a:xfrm>
          <a:prstGeom prst="rect">
            <a:avLst/>
          </a:prstGeom>
          <a:noFill/>
        </p:spPr>
        <p:txBody>
          <a:bodyPr wrap="square" anchor="t" lIns="0" rIns="0" tIns="0" bIns="0">
            <a:spAutoFit/>
          </a:bodyPr>
          <a:lstStyle/>
          <a:p>
            <a:pPr algn="l"/>
            <a:r>
              <a:rPr sz="1500" b="0" i="0">
                <a:solidFill>
                  <a:srgbClr val="1E2823"/>
                </a:solidFill>
                <a:latin typeface="Calibri"/>
              </a:rPr>
              <a:t>The caption under each image is written for a visitor to the finished wall. The case for why the image belongs in the timeline is in each slide's speaker notes — your talking points, not the audience's. Captions are draft until facts and rights are confirmed.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019574"/>
            <a:ext cx="6126480" cy="4818851"/>
          </a:xfrm>
          <a:prstGeom prst="rect">
            <a:avLst/>
          </a:prstGeom>
        </p:spPr>
      </p:pic>
      <p:sp>
        <p:nvSpPr>
          <p:cNvPr id="5" name="Rectangle 4"/>
          <p:cNvSpPr/>
          <p:nvPr/>
        </p:nvSpPr>
        <p:spPr>
          <a:xfrm>
            <a:off x="0" y="0"/>
            <a:ext cx="1828800"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FFFFFF"/>
                </a:solidFill>
                <a:latin typeface="Georgia"/>
              </a:rPr>
              <a:t>1800</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Ceremonial Big House Morongo</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A ceremonial Big House on what is today the Morongo Reservation. Long before the town of Beaumont existed, the San Gorgonio Pass was — and remains — the homeland of the Cahuilla and Serrano peoples, with the Big House at the center of ceremonial and community life.</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806440"/>
            <a:ext cx="885139" cy="310896"/>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TO SOURCE</a:t>
            </a:r>
          </a:p>
        </p:txBody>
      </p:sp>
      <p:sp>
        <p:nvSpPr>
          <p:cNvPr id="11" name="Rectangle 10"/>
          <p:cNvSpPr/>
          <p:nvPr/>
        </p:nvSpPr>
        <p:spPr>
          <a:xfrm>
            <a:off x="8246059" y="5806440"/>
            <a:ext cx="716889" cy="310896"/>
          </a:xfrm>
          <a:prstGeom prst="rect">
            <a:avLst/>
          </a:prstGeom>
          <a:solidFill>
            <a:srgbClr val="8A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TRACK B</a:t>
            </a:r>
          </a:p>
        </p:txBody>
      </p:sp>
      <p:sp>
        <p:nvSpPr>
          <p:cNvPr id="12" name="TextBox 11"/>
          <p:cNvSpPr txBox="1"/>
          <p:nvPr/>
        </p:nvSpPr>
        <p:spPr>
          <a:xfrm>
            <a:off x="7223760" y="6263640"/>
            <a:ext cx="4480560" cy="457200"/>
          </a:xfrm>
          <a:prstGeom prst="rect">
            <a:avLst/>
          </a:prstGeom>
          <a:noFill/>
        </p:spPr>
        <p:txBody>
          <a:bodyPr wrap="square" anchor="t" lIns="0" rIns="0" tIns="0" bIns="0">
            <a:spAutoFit/>
          </a:bodyPr>
          <a:lstStyle/>
          <a:p>
            <a:pPr algn="l"/>
            <a:r>
              <a:rPr sz="1100" b="0" i="0">
                <a:solidFill>
                  <a:srgbClr val="68736D"/>
                </a:solidFill>
                <a:latin typeface="Calibri"/>
              </a:rPr>
              <a:t>Malki Museum / Morongo Band (cultural consent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1344304" y="457200"/>
            <a:ext cx="4169391" cy="5943600"/>
          </a:xfrm>
          <a:prstGeom prst="rect">
            <a:avLst/>
          </a:prstGeom>
        </p:spPr>
      </p:pic>
      <p:sp>
        <p:nvSpPr>
          <p:cNvPr id="5" name="Rectangle 4"/>
          <p:cNvSpPr/>
          <p:nvPr/>
        </p:nvSpPr>
        <p:spPr>
          <a:xfrm>
            <a:off x="0" y="0"/>
            <a:ext cx="1828800"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FFFFFF"/>
                </a:solidFill>
                <a:latin typeface="Georgia"/>
              </a:rPr>
              <a:t>c. 1850s-1860s (Pauline Weaver, d.1867)</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2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Weaver</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Pauline Weaver — scout, trapper, and one of the earliest non-Native figures to move through the San Gorgonio Pass. His presence bridges the era of Native homeland and the arrival of American settlers.</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806440"/>
            <a:ext cx="885139" cy="310896"/>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TO SOURCE</a:t>
            </a:r>
          </a:p>
        </p:txBody>
      </p:sp>
      <p:sp>
        <p:nvSpPr>
          <p:cNvPr id="11" name="Rectangle 10"/>
          <p:cNvSpPr/>
          <p:nvPr/>
        </p:nvSpPr>
        <p:spPr>
          <a:xfrm>
            <a:off x="8246059" y="5806440"/>
            <a:ext cx="716889" cy="310896"/>
          </a:xfrm>
          <a:prstGeom prst="rect">
            <a:avLst/>
          </a:prstGeom>
          <a:solidFill>
            <a:srgbClr val="2D6EA6"/>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TRACK A</a:t>
            </a:r>
          </a:p>
        </p:txBody>
      </p:sp>
      <p:sp>
        <p:nvSpPr>
          <p:cNvPr id="12" name="TextBox 11"/>
          <p:cNvSpPr txBox="1"/>
          <p:nvPr/>
        </p:nvSpPr>
        <p:spPr>
          <a:xfrm>
            <a:off x="7223760" y="6263640"/>
            <a:ext cx="4480560" cy="457200"/>
          </a:xfrm>
          <a:prstGeom prst="rect">
            <a:avLst/>
          </a:prstGeom>
          <a:noFill/>
        </p:spPr>
        <p:txBody>
          <a:bodyPr wrap="square" anchor="t" lIns="0" rIns="0" tIns="0" bIns="0">
            <a:spAutoFit/>
          </a:bodyPr>
          <a:lstStyle/>
          <a:p>
            <a:pPr algn="l"/>
            <a:r>
              <a:rPr sz="1100" b="0" i="0">
                <a:solidFill>
                  <a:srgbClr val="68736D"/>
                </a:solidFill>
                <a:latin typeface="Calibri"/>
              </a:rPr>
              <a:t>Calisphere / published portrait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376629"/>
            <a:ext cx="6126480" cy="4104741"/>
          </a:xfrm>
          <a:prstGeom prst="rect">
            <a:avLst/>
          </a:prstGeom>
        </p:spPr>
      </p:pic>
      <p:sp>
        <p:nvSpPr>
          <p:cNvPr id="5" name="Rectangle 4"/>
          <p:cNvSpPr/>
          <p:nvPr/>
        </p:nvSpPr>
        <p:spPr>
          <a:xfrm>
            <a:off x="0" y="0"/>
            <a:ext cx="1828800"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FFFFFF"/>
                </a:solidFill>
                <a:latin typeface="Georgia"/>
              </a:rPr>
              <a:t>1860</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3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1860S Stagecoach Downtown Beaumont</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A stagecoach on Beaumont's dirt main street, around 1860. Before the railroad, the Pass was a stop on the long road west, and the stagecoach was its lifeline to the wider world.</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806440"/>
            <a:ext cx="885139" cy="310896"/>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TO SOURCE</a:t>
            </a:r>
          </a:p>
        </p:txBody>
      </p:sp>
      <p:sp>
        <p:nvSpPr>
          <p:cNvPr id="11" name="Rectangle 10"/>
          <p:cNvSpPr/>
          <p:nvPr/>
        </p:nvSpPr>
        <p:spPr>
          <a:xfrm>
            <a:off x="8246059" y="5806440"/>
            <a:ext cx="716889" cy="310896"/>
          </a:xfrm>
          <a:prstGeom prst="rect">
            <a:avLst/>
          </a:prstGeom>
          <a:solidFill>
            <a:srgbClr val="2D6EA6"/>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TRACK A</a:t>
            </a:r>
          </a:p>
        </p:txBody>
      </p:sp>
      <p:sp>
        <p:nvSpPr>
          <p:cNvPr id="12" name="TextBox 11"/>
          <p:cNvSpPr txBox="1"/>
          <p:nvPr/>
        </p:nvSpPr>
        <p:spPr>
          <a:xfrm>
            <a:off x="7223760" y="6263640"/>
            <a:ext cx="4480560" cy="457200"/>
          </a:xfrm>
          <a:prstGeom prst="rect">
            <a:avLst/>
          </a:prstGeom>
          <a:noFill/>
        </p:spPr>
        <p:txBody>
          <a:bodyPr wrap="square" anchor="t" lIns="0" rIns="0" tIns="0" bIns="0">
            <a:spAutoFit/>
          </a:bodyPr>
          <a:lstStyle/>
          <a:p>
            <a:pPr algn="l"/>
            <a:r>
              <a:rPr sz="1100" b="0" i="0">
                <a:solidFill>
                  <a:srgbClr val="68736D"/>
                </a:solidFill>
                <a:latin typeface="Calibri"/>
              </a:rPr>
              <a:t>Calisphere coll. 1828 / SGPHS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943109"/>
            <a:ext cx="6126480" cy="4971782"/>
          </a:xfrm>
          <a:prstGeom prst="rect">
            <a:avLst/>
          </a:prstGeom>
        </p:spPr>
      </p:pic>
      <p:sp>
        <p:nvSpPr>
          <p:cNvPr id="5" name="Rectangle 4"/>
          <p:cNvSpPr/>
          <p:nvPr/>
        </p:nvSpPr>
        <p:spPr>
          <a:xfrm>
            <a:off x="0" y="0"/>
            <a:ext cx="1828800"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FFFFFF"/>
                </a:solidFill>
                <a:latin typeface="Georgia"/>
              </a:rPr>
              <a:t>1875</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4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Beaumont Train Depot Calisphere</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The Beaumont train depot, 1875. The arrival of the Southern Pacific railroad is the hinge of the whole story — the moment a stretch of ranchland became a townsite with a future.</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Beaumont Library District Local History Collection, via Calisphere</a:t>
            </a:r>
          </a:p>
        </p:txBody>
      </p:sp>
      <p:sp>
        <p:nvSpPr>
          <p:cNvPr id="10" name="Rectangle 9"/>
          <p:cNvSpPr/>
          <p:nvPr/>
        </p:nvSpPr>
        <p:spPr>
          <a:xfrm>
            <a:off x="7223760" y="5806440"/>
            <a:ext cx="885139" cy="310896"/>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TO SOURCE</a:t>
            </a:r>
          </a:p>
        </p:txBody>
      </p:sp>
      <p:sp>
        <p:nvSpPr>
          <p:cNvPr id="11" name="Rectangle 10"/>
          <p:cNvSpPr/>
          <p:nvPr/>
        </p:nvSpPr>
        <p:spPr>
          <a:xfrm>
            <a:off x="8246059" y="5806440"/>
            <a:ext cx="716889" cy="310896"/>
          </a:xfrm>
          <a:prstGeom prst="rect">
            <a:avLst/>
          </a:prstGeom>
          <a:solidFill>
            <a:srgbClr val="2D6EA6"/>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TRACK A</a:t>
            </a:r>
          </a:p>
        </p:txBody>
      </p:sp>
      <p:sp>
        <p:nvSpPr>
          <p:cNvPr id="12" name="TextBox 11"/>
          <p:cNvSpPr txBox="1"/>
          <p:nvPr/>
        </p:nvSpPr>
        <p:spPr>
          <a:xfrm>
            <a:off x="7223760" y="6263640"/>
            <a:ext cx="4480560" cy="457200"/>
          </a:xfrm>
          <a:prstGeom prst="rect">
            <a:avLst/>
          </a:prstGeom>
          <a:noFill/>
        </p:spPr>
        <p:txBody>
          <a:bodyPr wrap="square" anchor="t" lIns="0" rIns="0" tIns="0" bIns="0">
            <a:spAutoFit/>
          </a:bodyPr>
          <a:lstStyle/>
          <a:p>
            <a:pPr algn="l"/>
            <a:r>
              <a:rPr sz="1100" b="0" i="0">
                <a:solidFill>
                  <a:srgbClr val="68736D"/>
                </a:solidFill>
                <a:latin typeface="Calibri"/>
              </a:rPr>
              <a:t>Calisphere coll. 1828 (has CBAN/ARK — quick win)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254100"/>
            <a:ext cx="6126480" cy="4349800"/>
          </a:xfrm>
          <a:prstGeom prst="rect">
            <a:avLst/>
          </a:prstGeom>
        </p:spPr>
      </p:pic>
      <p:sp>
        <p:nvSpPr>
          <p:cNvPr id="5" name="Rectangle 4"/>
          <p:cNvSpPr/>
          <p:nvPr/>
        </p:nvSpPr>
        <p:spPr>
          <a:xfrm>
            <a:off x="0" y="0"/>
            <a:ext cx="1828800"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FFFFFF"/>
                </a:solidFill>
                <a:latin typeface="Georgia"/>
              </a:rPr>
              <a:t>Undated</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5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Post Office</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One of Beaumont's earliest post offices. In a young town the post office was among the first institutions of civic life — proof that a scattering of settlers had become a community with a name and an address.</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Beaumont Library District</a:t>
            </a:r>
          </a:p>
        </p:txBody>
      </p:sp>
      <p:sp>
        <p:nvSpPr>
          <p:cNvPr id="10" name="Rectangle 9"/>
          <p:cNvSpPr/>
          <p:nvPr/>
        </p:nvSpPr>
        <p:spPr>
          <a:xfrm>
            <a:off x="7223760" y="5806440"/>
            <a:ext cx="885139" cy="310896"/>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TO SOURCE</a:t>
            </a:r>
          </a:p>
        </p:txBody>
      </p:sp>
      <p:sp>
        <p:nvSpPr>
          <p:cNvPr id="11" name="Rectangle 10"/>
          <p:cNvSpPr/>
          <p:nvPr/>
        </p:nvSpPr>
        <p:spPr>
          <a:xfrm>
            <a:off x="8246059" y="5806440"/>
            <a:ext cx="716889" cy="310896"/>
          </a:xfrm>
          <a:prstGeom prst="rect">
            <a:avLst/>
          </a:prstGeom>
          <a:solidFill>
            <a:srgbClr val="2D6EA6"/>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TRACK A</a:t>
            </a:r>
          </a:p>
        </p:txBody>
      </p:sp>
      <p:sp>
        <p:nvSpPr>
          <p:cNvPr id="12" name="TextBox 11"/>
          <p:cNvSpPr txBox="1"/>
          <p:nvPr/>
        </p:nvSpPr>
        <p:spPr>
          <a:xfrm>
            <a:off x="7223760" y="6263640"/>
            <a:ext cx="4480560" cy="457200"/>
          </a:xfrm>
          <a:prstGeom prst="rect">
            <a:avLst/>
          </a:prstGeom>
          <a:noFill/>
        </p:spPr>
        <p:txBody>
          <a:bodyPr wrap="square" anchor="t" lIns="0" rIns="0" tIns="0" bIns="0">
            <a:spAutoFit/>
          </a:bodyPr>
          <a:lstStyle/>
          <a:p>
            <a:pPr algn="l"/>
            <a:r>
              <a:rPr sz="1100" b="0" i="0">
                <a:solidFill>
                  <a:srgbClr val="68736D"/>
                </a:solidFill>
                <a:latin typeface="Calibri"/>
              </a:rPr>
              <a:t>Beaumont Library District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376629"/>
            <a:ext cx="6126480" cy="4104741"/>
          </a:xfrm>
          <a:prstGeom prst="rect">
            <a:avLst/>
          </a:prstGeom>
        </p:spPr>
      </p:pic>
      <p:sp>
        <p:nvSpPr>
          <p:cNvPr id="5" name="Rectangle 4"/>
          <p:cNvSpPr/>
          <p:nvPr/>
        </p:nvSpPr>
        <p:spPr>
          <a:xfrm>
            <a:off x="0" y="0"/>
            <a:ext cx="1828800"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FFFFFF"/>
                </a:solidFill>
                <a:latin typeface="Georgia"/>
              </a:rPr>
              <a:t>1900</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6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Traditional House On Morongo Reservation</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A traditional dwelling on the Morongo Reservation, around 1900. As the new town grew nearby, Native life in the Pass continued — a reminder that Beaumont grew up alongside, not in place of, the people who were here first.</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806440"/>
            <a:ext cx="885139" cy="310896"/>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TO SOURCE</a:t>
            </a:r>
          </a:p>
        </p:txBody>
      </p:sp>
      <p:sp>
        <p:nvSpPr>
          <p:cNvPr id="11" name="Rectangle 10"/>
          <p:cNvSpPr/>
          <p:nvPr/>
        </p:nvSpPr>
        <p:spPr>
          <a:xfrm>
            <a:off x="8246059" y="5806440"/>
            <a:ext cx="716889" cy="310896"/>
          </a:xfrm>
          <a:prstGeom prst="rect">
            <a:avLst/>
          </a:prstGeom>
          <a:solidFill>
            <a:srgbClr val="8A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TRACK B</a:t>
            </a:r>
          </a:p>
        </p:txBody>
      </p:sp>
      <p:sp>
        <p:nvSpPr>
          <p:cNvPr id="12" name="TextBox 11"/>
          <p:cNvSpPr txBox="1"/>
          <p:nvPr/>
        </p:nvSpPr>
        <p:spPr>
          <a:xfrm>
            <a:off x="7223760" y="6263640"/>
            <a:ext cx="4480560" cy="457200"/>
          </a:xfrm>
          <a:prstGeom prst="rect">
            <a:avLst/>
          </a:prstGeom>
          <a:noFill/>
        </p:spPr>
        <p:txBody>
          <a:bodyPr wrap="square" anchor="t" lIns="0" rIns="0" tIns="0" bIns="0">
            <a:spAutoFit/>
          </a:bodyPr>
          <a:lstStyle/>
          <a:p>
            <a:pPr algn="l"/>
            <a:r>
              <a:rPr sz="1100" b="0" i="0">
                <a:solidFill>
                  <a:srgbClr val="68736D"/>
                </a:solidFill>
                <a:latin typeface="Calibri"/>
              </a:rPr>
              <a:t>Malki Museum / NAA (cultural consent required)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1200150" y="457200"/>
            <a:ext cx="4457700" cy="5943600"/>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c. 1908-1918</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7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Clara Stewart Left And Laura May Stewart Right</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Clara and Laura May Stewart on the family ranch, around 1908. The Stewarts were among the pioneer families who worked the land in Beaumont's early years — and this rare frame keeps the women of the ranch in the picture.</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24.2"  @150 PPI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457200" y="457200"/>
            <a:ext cx="5943600" cy="5943600"/>
          </a:xfrm>
          <a:prstGeom prst="rect">
            <a:avLst/>
          </a:prstGeom>
        </p:spPr>
      </p:pic>
      <p:sp>
        <p:nvSpPr>
          <p:cNvPr id="5" name="Rectangle 4"/>
          <p:cNvSpPr/>
          <p:nvPr/>
        </p:nvSpPr>
        <p:spPr>
          <a:xfrm>
            <a:off x="0" y="0"/>
            <a:ext cx="1828800"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FFFFFF"/>
                </a:solidFill>
                <a:latin typeface="Georgia"/>
              </a:rPr>
              <a:t>1908</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8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Morongo Band Of Mission Indians</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Members of the Morongo Band of Mission Indians, 1908. A portrait of the Pass's original community as a living people — central to any honest telling of Beaumont's timeline.</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806440"/>
            <a:ext cx="885139" cy="310896"/>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TO SOURCE</a:t>
            </a:r>
          </a:p>
        </p:txBody>
      </p:sp>
      <p:sp>
        <p:nvSpPr>
          <p:cNvPr id="11" name="Rectangle 10"/>
          <p:cNvSpPr/>
          <p:nvPr/>
        </p:nvSpPr>
        <p:spPr>
          <a:xfrm>
            <a:off x="8246059" y="5806440"/>
            <a:ext cx="716889" cy="310896"/>
          </a:xfrm>
          <a:prstGeom prst="rect">
            <a:avLst/>
          </a:prstGeom>
          <a:solidFill>
            <a:srgbClr val="8A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TRACK B</a:t>
            </a:r>
          </a:p>
        </p:txBody>
      </p:sp>
      <p:sp>
        <p:nvSpPr>
          <p:cNvPr id="12" name="TextBox 11"/>
          <p:cNvSpPr txBox="1"/>
          <p:nvPr/>
        </p:nvSpPr>
        <p:spPr>
          <a:xfrm>
            <a:off x="7223760" y="6263640"/>
            <a:ext cx="4480560" cy="457200"/>
          </a:xfrm>
          <a:prstGeom prst="rect">
            <a:avLst/>
          </a:prstGeom>
          <a:noFill/>
        </p:spPr>
        <p:txBody>
          <a:bodyPr wrap="square" anchor="t" lIns="0" rIns="0" tIns="0" bIns="0">
            <a:spAutoFit/>
          </a:bodyPr>
          <a:lstStyle/>
          <a:p>
            <a:pPr algn="l"/>
            <a:r>
              <a:rPr sz="1100" b="0" i="0">
                <a:solidFill>
                  <a:srgbClr val="68736D"/>
                </a:solidFill>
                <a:latin typeface="Calibri"/>
              </a:rPr>
              <a:t>Malki Museum / USC / NAA (cultural consent required)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131570"/>
            <a:ext cx="6126480" cy="4594860"/>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c. 1910-1915</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9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Beaumont Post Office Ne Corner Fifth St And Egan Ave</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The Beaumont Post Office at Fifth Street and Egan Avenue, about 1910. For decades this corner was the heart of the young town's public life — where residents collected mail, traded news, and crossed paths downtown.</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24.2"  @150 PPI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326305"/>
            <a:ext cx="6126480" cy="4205390"/>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c. 1910-1935</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10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Railroad Workers Luis Estrada Fourth From Right</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A Southern Pacific railroad crew around 1910, Luis Estrada fourth from the right. The railroad made Beaumont possible, and the Latino laborers who built and kept the line were central to the town's growth.</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Estrada family collection</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35.7"  @150 PPI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553860"/>
            <a:ext cx="6126480" cy="3750280"/>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1910</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11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Wctu Fountain</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The Woman's Christian Temperance Union fountain, 1910. It offered clean water to people and horses alike, and stood as a very public sign that the era's great reform movements reached even a small Pass town.</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Leslie A. Rios III Postcard Collection</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41.6"  @150 PPI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131570"/>
            <a:ext cx="6126480" cy="4594860"/>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1916</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12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Wellwood School</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Wellwood School, 1916. As Beaumont grew from scattered ranches into a community, it built schools to raise its own — the mark of families putting down roots.</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Beaumont Library District</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24.2"  @150 PPI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407262"/>
            <a:ext cx="6126480" cy="4043476"/>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1919</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13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Cherry Festival Queen</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The Cherry Festival Queen, 1919. Beaumont's orchards made it cherry country, and the annual festival turned the harvest into the town's signature celebration — a tradition that still shapes local identity.</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San Gorgonio Pass Historical Society</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24.2"  @150 PPI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232219"/>
            <a:ext cx="6126480" cy="4393561"/>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c. 1920s</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14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George Sumner S And S Store On Fifth Street Interior</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Inside George Sumner's S&amp;S Store on Fifth Street in the 1920s. Beyond the civic buildings lay the everyday downtown — the counters where residents actually spent their days and their dollars.</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24.8"  @150 PPI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019981"/>
            <a:ext cx="6126480" cy="4818038"/>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c. 1940s</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15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Luis Estrada Family In Their Southern Pacific Railroad Section House Leslie Collection</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The Estrada family beside their Southern Pacific home in the 1940s. A generation on from the railroad crews, the image shows a family rooted in Beaumont — the human story behind the town's founding industry.</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Estrada family collection</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36.4"  @150 PPI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131570"/>
            <a:ext cx="6126480" cy="4594860"/>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1942</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16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Beaumont High School</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Beaumont High School, 1942. By mid-century the town's schools had come of age, and generation after generation of residents passed through these halls.</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donated by Leslie Rios</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24.2"  @150 PPI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1085523" y="457200"/>
            <a:ext cx="4686953" cy="5943600"/>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1950</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17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First Christian Church Egan Ave Probably Late 1950S A</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First Christian Church on Egan Avenue, about 1950. A mainline congregation at the town's civic center — shown alongside Sacred Heart to reflect a Beaumont of many communities worshiping side by side.</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24.0"  @150 PPI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131570"/>
            <a:ext cx="6126480" cy="4594860"/>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c. 1950s-1960s</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18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Dowling Orchard Fruit Fresh Produce And Dried Fruit Nuts Candy Signs</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The Dowling orchard and packing store in the 1950s. At the fruit industry's height, Beaumont's fresh and dried produce carried the Pass's name far beyond the valley.</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24.2"  @150 PPI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324117"/>
            <a:ext cx="6126480" cy="4209766"/>
          </a:xfrm>
          <a:prstGeom prst="rect">
            <a:avLst/>
          </a:prstGeom>
        </p:spPr>
      </p:pic>
      <p:sp>
        <p:nvSpPr>
          <p:cNvPr id="5" name="Rectangle 4"/>
          <p:cNvSpPr/>
          <p:nvPr/>
        </p:nvSpPr>
        <p:spPr>
          <a:xfrm>
            <a:off x="0" y="0"/>
            <a:ext cx="1828800" cy="566928"/>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1E2823"/>
                </a:solidFill>
                <a:latin typeface="Georgia"/>
              </a:rPr>
              <a:t>c. late 1950s</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19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Sacred Heart Barrio Church From Leslie Rios</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Sacred Heart church in the barrio, late 1940s. A center of faith and gathering for Beaumont's Mexican-American community, it anchored a neighborhood essential to the full story of the town.</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Leslie A. Rios III Postcard Collection</a:t>
            </a:r>
          </a:p>
        </p:txBody>
      </p:sp>
      <p:sp>
        <p:nvSpPr>
          <p:cNvPr id="10" name="Rectangle 9"/>
          <p:cNvSpPr/>
          <p:nvPr/>
        </p:nvSpPr>
        <p:spPr>
          <a:xfrm>
            <a:off x="7223760" y="5989320"/>
            <a:ext cx="2062886" cy="310896"/>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READY · 49.5"  @150 PPI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1823862"/>
            <a:ext cx="6126480" cy="3210275"/>
          </a:xfrm>
          <a:prstGeom prst="rect">
            <a:avLst/>
          </a:prstGeom>
        </p:spPr>
      </p:pic>
      <p:sp>
        <p:nvSpPr>
          <p:cNvPr id="5" name="Rectangle 4"/>
          <p:cNvSpPr/>
          <p:nvPr/>
        </p:nvSpPr>
        <p:spPr>
          <a:xfrm>
            <a:off x="0" y="0"/>
            <a:ext cx="1828800"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FFFFFF"/>
                </a:solidFill>
                <a:latin typeface="Georgia"/>
              </a:rPr>
              <a:t>1965</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20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Expansion Mansard Roof</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A new mansard-roofed building marks Beaumont's postwar expansion, 1965. As the mid-century town modernized, it began to outgrow its founding footprint.</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806440"/>
            <a:ext cx="885139" cy="310896"/>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TO SOURCE</a:t>
            </a:r>
          </a:p>
        </p:txBody>
      </p:sp>
      <p:sp>
        <p:nvSpPr>
          <p:cNvPr id="11" name="Rectangle 10"/>
          <p:cNvSpPr/>
          <p:nvPr/>
        </p:nvSpPr>
        <p:spPr>
          <a:xfrm>
            <a:off x="8246059" y="5806440"/>
            <a:ext cx="716889" cy="310896"/>
          </a:xfrm>
          <a:prstGeom prst="rect">
            <a:avLst/>
          </a:prstGeom>
          <a:solidFill>
            <a:srgbClr val="7A4BB0"/>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TRACK C</a:t>
            </a:r>
          </a:p>
        </p:txBody>
      </p:sp>
      <p:sp>
        <p:nvSpPr>
          <p:cNvPr id="12" name="TextBox 11"/>
          <p:cNvSpPr txBox="1"/>
          <p:nvPr/>
        </p:nvSpPr>
        <p:spPr>
          <a:xfrm>
            <a:off x="7223760" y="6263640"/>
            <a:ext cx="4480560" cy="457200"/>
          </a:xfrm>
          <a:prstGeom prst="rect">
            <a:avLst/>
          </a:prstGeom>
          <a:noFill/>
        </p:spPr>
        <p:txBody>
          <a:bodyPr wrap="square" anchor="t" lIns="0" rIns="0" tIns="0" bIns="0">
            <a:spAutoFit/>
          </a:bodyPr>
          <a:lstStyle/>
          <a:p>
            <a:pPr algn="l"/>
            <a:r>
              <a:rPr sz="1100" b="0" i="0">
                <a:solidFill>
                  <a:srgbClr val="68736D"/>
                </a:solidFill>
                <a:latin typeface="Calibri"/>
              </a:rPr>
              <a:t>Library storage / Record Gazette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365760" y="996787"/>
            <a:ext cx="6126480" cy="4864425"/>
          </a:xfrm>
          <a:prstGeom prst="rect">
            <a:avLst/>
          </a:prstGeom>
        </p:spPr>
      </p:pic>
      <p:sp>
        <p:nvSpPr>
          <p:cNvPr id="5" name="Rectangle 4"/>
          <p:cNvSpPr/>
          <p:nvPr/>
        </p:nvSpPr>
        <p:spPr>
          <a:xfrm>
            <a:off x="0" y="0"/>
            <a:ext cx="1828800" cy="5669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ctr"/>
            <a:r>
              <a:rPr sz="1800" b="1">
                <a:solidFill>
                  <a:srgbClr val="FFFFFF"/>
                </a:solidFill>
                <a:latin typeface="Georgia"/>
              </a:rPr>
              <a:t>1988</a:t>
            </a:r>
          </a:p>
        </p:txBody>
      </p:sp>
      <p:sp>
        <p:nvSpPr>
          <p:cNvPr id="6" name="TextBox 5"/>
          <p:cNvSpPr txBox="1"/>
          <p:nvPr/>
        </p:nvSpPr>
        <p:spPr>
          <a:xfrm>
            <a:off x="7223760" y="640080"/>
            <a:ext cx="4480560" cy="365760"/>
          </a:xfrm>
          <a:prstGeom prst="rect">
            <a:avLst/>
          </a:prstGeom>
          <a:noFill/>
        </p:spPr>
        <p:txBody>
          <a:bodyPr wrap="square" anchor="t" lIns="0" rIns="0" tIns="0" bIns="0">
            <a:spAutoFit/>
          </a:bodyPr>
          <a:lstStyle/>
          <a:p>
            <a:pPr algn="l"/>
            <a:r>
              <a:rPr sz="1200" b="1" i="0">
                <a:solidFill>
                  <a:srgbClr val="D3A54D"/>
                </a:solidFill>
                <a:latin typeface="Calibri"/>
              </a:rPr>
              <a:t>FRAME 21 OF 21</a:t>
            </a:r>
          </a:p>
        </p:txBody>
      </p:sp>
      <p:sp>
        <p:nvSpPr>
          <p:cNvPr id="7" name="TextBox 6"/>
          <p:cNvSpPr txBox="1"/>
          <p:nvPr/>
        </p:nvSpPr>
        <p:spPr>
          <a:xfrm>
            <a:off x="7223760" y="1051560"/>
            <a:ext cx="4480560" cy="1097280"/>
          </a:xfrm>
          <a:prstGeom prst="rect">
            <a:avLst/>
          </a:prstGeom>
          <a:noFill/>
        </p:spPr>
        <p:txBody>
          <a:bodyPr wrap="square" anchor="t" lIns="0" rIns="0" tIns="0" bIns="0">
            <a:spAutoFit/>
          </a:bodyPr>
          <a:lstStyle/>
          <a:p>
            <a:pPr algn="l"/>
            <a:r>
              <a:rPr sz="2800" b="0" i="0">
                <a:solidFill>
                  <a:srgbClr val="1E2823"/>
                </a:solidFill>
                <a:latin typeface="Georgia"/>
              </a:rPr>
              <a:t>Beaumont Developments</a:t>
            </a:r>
          </a:p>
        </p:txBody>
      </p:sp>
      <p:sp>
        <p:nvSpPr>
          <p:cNvPr id="8" name="TextBox 7"/>
          <p:cNvSpPr txBox="1"/>
          <p:nvPr/>
        </p:nvSpPr>
        <p:spPr>
          <a:xfrm>
            <a:off x="7223760" y="2286000"/>
            <a:ext cx="4480560" cy="3108960"/>
          </a:xfrm>
          <a:prstGeom prst="rect">
            <a:avLst/>
          </a:prstGeom>
          <a:noFill/>
        </p:spPr>
        <p:txBody>
          <a:bodyPr wrap="square" anchor="t" lIns="0" rIns="0" tIns="0" bIns="0">
            <a:spAutoFit/>
          </a:bodyPr>
          <a:lstStyle/>
          <a:p>
            <a:pPr algn="l"/>
            <a:r>
              <a:rPr sz="1600" b="0" i="0">
                <a:solidFill>
                  <a:srgbClr val="2C3630"/>
                </a:solidFill>
                <a:latin typeface="Georgia"/>
              </a:rPr>
              <a:t>New development on the edge of Beaumont, 1988. Near the end of the timeline, the town starts its turn toward the growing commuter community it is today.</a:t>
            </a:r>
          </a:p>
        </p:txBody>
      </p:sp>
      <p:sp>
        <p:nvSpPr>
          <p:cNvPr id="9" name="TextBox 8"/>
          <p:cNvSpPr txBox="1"/>
          <p:nvPr/>
        </p:nvSpPr>
        <p:spPr>
          <a:xfrm>
            <a:off x="7223760" y="5486400"/>
            <a:ext cx="4480560" cy="365760"/>
          </a:xfrm>
          <a:prstGeom prst="rect">
            <a:avLst/>
          </a:prstGeom>
          <a:noFill/>
        </p:spPr>
        <p:txBody>
          <a:bodyPr wrap="square" anchor="t" lIns="0" rIns="0" tIns="0" bIns="0">
            <a:spAutoFit/>
          </a:bodyPr>
          <a:lstStyle/>
          <a:p>
            <a:pPr algn="l"/>
            <a:r>
              <a:rPr sz="1100" b="0" i="0">
                <a:solidFill>
                  <a:srgbClr val="68736D"/>
                </a:solidFill>
                <a:latin typeface="Calibri"/>
              </a:rPr>
              <a:t>Credit: Unknown</a:t>
            </a:r>
          </a:p>
        </p:txBody>
      </p:sp>
      <p:sp>
        <p:nvSpPr>
          <p:cNvPr id="10" name="Rectangle 9"/>
          <p:cNvSpPr/>
          <p:nvPr/>
        </p:nvSpPr>
        <p:spPr>
          <a:xfrm>
            <a:off x="7223760" y="5806440"/>
            <a:ext cx="885139" cy="310896"/>
          </a:xfrm>
          <a:prstGeom prst="rect">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TO SOURCE</a:t>
            </a:r>
          </a:p>
        </p:txBody>
      </p:sp>
      <p:sp>
        <p:nvSpPr>
          <p:cNvPr id="11" name="Rectangle 10"/>
          <p:cNvSpPr/>
          <p:nvPr/>
        </p:nvSpPr>
        <p:spPr>
          <a:xfrm>
            <a:off x="8246059" y="5806440"/>
            <a:ext cx="716889" cy="310896"/>
          </a:xfrm>
          <a:prstGeom prst="rect">
            <a:avLst/>
          </a:prstGeom>
          <a:solidFill>
            <a:srgbClr val="7A4BB0"/>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tIns="25400" bIns="25400"/>
          <a:lstStyle/>
          <a:p>
            <a:pPr algn="ctr"/>
            <a:r>
              <a:rPr sz="1100" b="1">
                <a:solidFill>
                  <a:srgbClr val="FFFFFF"/>
                </a:solidFill>
                <a:latin typeface="Calibri"/>
              </a:rPr>
              <a:t>TRACK C</a:t>
            </a:r>
          </a:p>
        </p:txBody>
      </p:sp>
      <p:sp>
        <p:nvSpPr>
          <p:cNvPr id="12" name="TextBox 11"/>
          <p:cNvSpPr txBox="1"/>
          <p:nvPr/>
        </p:nvSpPr>
        <p:spPr>
          <a:xfrm>
            <a:off x="7223760" y="6263640"/>
            <a:ext cx="4480560" cy="457200"/>
          </a:xfrm>
          <a:prstGeom prst="rect">
            <a:avLst/>
          </a:prstGeom>
          <a:noFill/>
        </p:spPr>
        <p:txBody>
          <a:bodyPr wrap="square" anchor="t" lIns="0" rIns="0" tIns="0" bIns="0">
            <a:spAutoFit/>
          </a:bodyPr>
          <a:lstStyle/>
          <a:p>
            <a:pPr algn="l"/>
            <a:r>
              <a:rPr sz="1100" b="0" i="0">
                <a:solidFill>
                  <a:srgbClr val="68736D"/>
                </a:solidFill>
                <a:latin typeface="Calibri"/>
              </a:rPr>
              <a:t>Library storage / Record Gazette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3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D3A5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85800"/>
            <a:ext cx="10515600" cy="822960"/>
          </a:xfrm>
          <a:prstGeom prst="rect">
            <a:avLst/>
          </a:prstGeom>
          <a:noFill/>
        </p:spPr>
        <p:txBody>
          <a:bodyPr wrap="square" anchor="t" lIns="0" rIns="0" tIns="0" bIns="0">
            <a:spAutoFit/>
          </a:bodyPr>
          <a:lstStyle/>
          <a:p>
            <a:pPr algn="l"/>
            <a:r>
              <a:rPr sz="3600" b="0" i="0">
                <a:solidFill>
                  <a:srgbClr val="FFFFFF"/>
                </a:solidFill>
                <a:latin typeface="Georgia"/>
              </a:rPr>
              <a:t>What we need to finish the wall</a:t>
            </a:r>
          </a:p>
        </p:txBody>
      </p:sp>
      <p:sp>
        <p:nvSpPr>
          <p:cNvPr id="5" name="Rectangle 4"/>
          <p:cNvSpPr/>
          <p:nvPr/>
        </p:nvSpPr>
        <p:spPr>
          <a:xfrm>
            <a:off x="822960" y="1737360"/>
            <a:ext cx="118872" cy="1280160"/>
          </a:xfrm>
          <a:prstGeom prst="rect">
            <a:avLst/>
          </a:prstGeom>
          <a:solidFill>
            <a:srgbClr val="2D6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737360"/>
            <a:ext cx="10058400" cy="1371600"/>
          </a:xfrm>
          <a:prstGeom prst="rect">
            <a:avLst/>
          </a:prstGeom>
          <a:noFill/>
        </p:spPr>
        <p:txBody>
          <a:bodyPr wrap="square" anchor="t" lIns="0" rIns="0" tIns="0" bIns="0">
            <a:spAutoFit/>
          </a:bodyPr>
          <a:lstStyle/>
          <a:p>
            <a:pPr algn="l"/>
            <a:r>
              <a:rPr sz="1700" b="1" i="0">
                <a:solidFill>
                  <a:srgbClr val="D3A54D"/>
                </a:solidFill>
                <a:latin typeface="Calibri"/>
              </a:rPr>
              <a:t>Track A · Online   (4)</a:t>
            </a:r>
          </a:p>
          <a:p>
            <a:pPr algn="l"/>
            <a:r>
              <a:rPr sz="1300" b="0" i="0">
                <a:solidFill>
                  <a:srgbClr val="CFDAD3"/>
                </a:solidFill>
                <a:latin typeface="Calibri"/>
              </a:rPr>
              <a:t>Calisphere coll. 1828/1582, OAC, Record Gazette. Start with the 1875 Depot — it's already online with an ARK.</a:t>
            </a:r>
          </a:p>
          <a:p>
            <a:pPr algn="l"/>
            <a:r>
              <a:rPr sz="1250" b="0" i="1">
                <a:solidFill>
                  <a:srgbClr val="FFFFFF"/>
                </a:solidFill>
                <a:latin typeface="Georgia"/>
              </a:rPr>
              <a:t>Weaver  ·  1860S Stagecoach Downtown Beaumont  ·  Beaumont Train Depot Calisphere  ·  Post Office</a:t>
            </a:r>
          </a:p>
        </p:txBody>
      </p:sp>
      <p:sp>
        <p:nvSpPr>
          <p:cNvPr id="7" name="Rectangle 6"/>
          <p:cNvSpPr/>
          <p:nvPr/>
        </p:nvSpPr>
        <p:spPr>
          <a:xfrm>
            <a:off x="822960" y="3200400"/>
            <a:ext cx="118872" cy="1280160"/>
          </a:xfrm>
          <a:prstGeom prst="rect">
            <a:avLst/>
          </a:prstGeom>
          <a:solidFill>
            <a:srgbClr val="8A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200400"/>
            <a:ext cx="10058400" cy="1371600"/>
          </a:xfrm>
          <a:prstGeom prst="rect">
            <a:avLst/>
          </a:prstGeom>
          <a:noFill/>
        </p:spPr>
        <p:txBody>
          <a:bodyPr wrap="square" anchor="t" lIns="0" rIns="0" tIns="0" bIns="0">
            <a:spAutoFit/>
          </a:bodyPr>
          <a:lstStyle/>
          <a:p>
            <a:pPr algn="l"/>
            <a:r>
              <a:rPr sz="1700" b="1" i="0">
                <a:solidFill>
                  <a:srgbClr val="D3A54D"/>
                </a:solidFill>
                <a:latin typeface="Calibri"/>
              </a:rPr>
              <a:t>Track B · Malki + Tribe   (3)</a:t>
            </a:r>
          </a:p>
          <a:p>
            <a:pPr algn="l"/>
            <a:r>
              <a:rPr sz="1300" b="0" i="0">
                <a:solidFill>
                  <a:srgbClr val="CFDAD3"/>
                </a:solidFill>
                <a:latin typeface="Calibri"/>
              </a:rPr>
              <a:t>Malki Museum sourcing AND Morongo Tribe cultural consent before any public use of the Native-heritage images.</a:t>
            </a:r>
          </a:p>
          <a:p>
            <a:pPr algn="l"/>
            <a:r>
              <a:rPr sz="1250" b="0" i="1">
                <a:solidFill>
                  <a:srgbClr val="FFFFFF"/>
                </a:solidFill>
                <a:latin typeface="Georgia"/>
              </a:rPr>
              <a:t>Ceremonial Big House Morongo  ·  Traditional House On Morongo Reser  ·  Morongo Band Of Mission Indians</a:t>
            </a:r>
          </a:p>
        </p:txBody>
      </p:sp>
      <p:sp>
        <p:nvSpPr>
          <p:cNvPr id="9" name="Rectangle 8"/>
          <p:cNvSpPr/>
          <p:nvPr/>
        </p:nvSpPr>
        <p:spPr>
          <a:xfrm>
            <a:off x="822960" y="4663440"/>
            <a:ext cx="118872" cy="1280160"/>
          </a:xfrm>
          <a:prstGeom prst="rect">
            <a:avLst/>
          </a:prstGeom>
          <a:solidFill>
            <a:srgbClr val="7A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4663440"/>
            <a:ext cx="10058400" cy="1371600"/>
          </a:xfrm>
          <a:prstGeom prst="rect">
            <a:avLst/>
          </a:prstGeom>
          <a:noFill/>
        </p:spPr>
        <p:txBody>
          <a:bodyPr wrap="square" anchor="t" lIns="0" rIns="0" tIns="0" bIns="0">
            <a:spAutoFit/>
          </a:bodyPr>
          <a:lstStyle/>
          <a:p>
            <a:pPr algn="l"/>
            <a:r>
              <a:rPr sz="1700" b="1" i="0">
                <a:solidFill>
                  <a:srgbClr val="D3A54D"/>
                </a:solidFill>
                <a:latin typeface="Calibri"/>
              </a:rPr>
              <a:t>Track C · Storage   (2)</a:t>
            </a:r>
          </a:p>
          <a:p>
            <a:pPr algn="l"/>
            <a:r>
              <a:rPr sz="1300" b="0" i="0">
                <a:solidFill>
                  <a:srgbClr val="CFDAD3"/>
                </a:solidFill>
                <a:latin typeface="Calibri"/>
              </a:rPr>
              <a:t>The unindexed Library storage. Bring the printed pull-list; triage on the first visit.</a:t>
            </a:r>
          </a:p>
          <a:p>
            <a:pPr algn="l"/>
            <a:r>
              <a:rPr sz="1250" b="0" i="1">
                <a:solidFill>
                  <a:srgbClr val="FFFFFF"/>
                </a:solidFill>
                <a:latin typeface="Georgia"/>
              </a:rPr>
              <a:t>Expansion Mansard Roof  ·  Beaumont Developments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